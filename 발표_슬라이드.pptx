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pple SD Gothic Neo"/>
              </a:rPr>
              <a:t>1,251명이 가입했고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pple SD Gothic Neo"/>
              </a:rPr>
              <a:t>오늘 활성 사용자는 92명입니다.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74C3C"/>
                </a:solidFill>
                <a:latin typeface="Apple SD Gothic Neo"/>
              </a:rPr>
              <a:t>— 81%가 이미 떠났습니다 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ple SD Gothic Neo"/>
              </a:rPr>
              <a:t>도서 SNS 앱이란?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D6D7E"/>
                </a:solidFill>
                <a:latin typeface="Apple SD Gothic Neo"/>
              </a:rPr>
              <a:t>사용자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833"/>
                </a:solidFill>
                <a:latin typeface="Apple SD Gothic Neo"/>
              </a:rPr>
              <a:t>가입  →  책 추가  →  아카이브(완독 처리)  →  리뷰 작성
              ↕
다른 사람 프로필 방문  /  팔로우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4114800"/>
          </a:xfrm>
          <a:prstGeom prst="rect">
            <a:avLst/>
          </a:prstGeom>
          <a:solidFill>
            <a:srgbClr val="E0E7EF"/>
          </a:solidFill>
          <a:ln w="190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971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A5276"/>
                </a:solidFill>
                <a:latin typeface="Apple SD Gothic Neo"/>
              </a:rPr>
              <a:t>[ 스크린샷 삽입 ]
앱 UI 화면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ple SD Gothic Neo"/>
              </a:rPr>
              <a:t>분석 데이터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41148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1188720"/>
            <a:ext cx="32004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2801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280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ple SD Gothic Neo"/>
              </a:rPr>
              <a:t>규모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965960"/>
            <a:ext cx="41148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965960"/>
            <a:ext cx="3200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0574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833"/>
                </a:solidFill>
                <a:latin typeface="Apple SD Gothic Neo"/>
              </a:rPr>
              <a:t>사용자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57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833"/>
                </a:solidFill>
                <a:latin typeface="Apple SD Gothic Neo"/>
              </a:rPr>
              <a:t>1,077명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743200"/>
            <a:ext cx="411480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2743200"/>
            <a:ext cx="320040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8346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833"/>
                </a:solidFill>
                <a:latin typeface="Apple SD Gothic Neo"/>
              </a:rPr>
              <a:t>방문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833"/>
                </a:solidFill>
                <a:latin typeface="Apple SD Gothic Neo"/>
              </a:rPr>
              <a:t>5,042건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520439"/>
            <a:ext cx="41148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3520439"/>
            <a:ext cx="3200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6118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833"/>
                </a:solidFill>
                <a:latin typeface="Apple SD Gothic Neo"/>
              </a:rPr>
              <a:t>리뷰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61187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833"/>
                </a:solidFill>
                <a:latin typeface="Apple SD Gothic Neo"/>
              </a:rPr>
              <a:t>1,666개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297680"/>
            <a:ext cx="411480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4297680"/>
            <a:ext cx="320040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43891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833"/>
                </a:solidFill>
                <a:latin typeface="Apple SD Gothic Neo"/>
              </a:rPr>
              <a:t>이탈 피드백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389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833"/>
                </a:solidFill>
                <a:latin typeface="Apple SD Gothic Neo"/>
              </a:rPr>
              <a:t>208건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074920"/>
            <a:ext cx="41148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5074920"/>
            <a:ext cx="3200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516635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833"/>
                </a:solidFill>
                <a:latin typeface="Apple SD Gothic Neo"/>
              </a:rPr>
              <a:t>분석 기간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516635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833"/>
                </a:solidFill>
                <a:latin typeface="Apple SD Gothic Neo"/>
              </a:rPr>
              <a:t>앱 출시 ~ 2026.05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8DBB"/>
                </a:solidFill>
                <a:latin typeface="Apple SD Gothic Neo"/>
              </a:rPr>
              <a:t>오늘의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pple SD Gothic Neo"/>
              </a:rPr>
              <a:t>왜 떠나는가?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pple SD Gothic Neo"/>
              </a:rPr>
              <a:t>누가 남는가?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pple SD Gothic Neo"/>
              </a:rPr>
              <a:t>어떻게 막을 수 있는가?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ple SD Gothic Neo"/>
              </a:rPr>
              <a:t>① EDA: 누가 있는가?</a:t>
            </a:r>
          </a:p>
        </p:txBody>
      </p:sp>
      <p:pic>
        <p:nvPicPr>
          <p:cNvPr id="4" name="Picture 3" descr="fig_01_active_vs_dorm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315200" cy="3251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22860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833"/>
                </a:solidFill>
                <a:latin typeface="Apple SD Gothic Neo"/>
              </a:rPr>
              <a:t>long_dormant 80.9%
→ 사용자 10명 중 8명은 이미 장기 이탈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188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74C3C"/>
                </a:solidFill>
                <a:latin typeface="Apple SD Gothic Neo"/>
              </a:rPr>
              <a:t>81%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ple SD Gothic Neo"/>
              </a:rPr>
              <a:t>② 코호트: 언제 떠나는가?   ✅ H5 지지</a:t>
            </a:r>
          </a:p>
        </p:txBody>
      </p:sp>
      <p:pic>
        <p:nvPicPr>
          <p:cNvPr id="4" name="Picture 3" descr="fig_01_ad_cohort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2560320"/>
          </a:xfrm>
          <a:prstGeom prst="rect">
            <a:avLst/>
          </a:prstGeom>
        </p:spPr>
      </p:pic>
      <p:pic>
        <p:nvPicPr>
          <p:cNvPr id="5" name="Picture 4" descr="fig_01_cohort_re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1804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276"/>
                </a:solidFill>
                <a:latin typeface="Apple SD Gothic Neo"/>
              </a:rPr>
              <a:t>광고 코호트가 오히려 더 빠르게 이탈
→ 유입 문제가 아니라 정착 문제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ple SD Gothic Neo"/>
              </a:rPr>
              <a:t>③ 클러스터링: 어떤 사람들인가?</a:t>
            </a:r>
          </a:p>
        </p:txBody>
      </p:sp>
      <p:pic>
        <p:nvPicPr>
          <p:cNvPr id="4" name="Picture 3" descr="fig_02_persona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2833"/>
                </a:solidFill>
                <a:latin typeface="Apple SD Gothic Neo"/>
              </a:rPr>
              <a:t>소셜 독서가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D6D7E"/>
                </a:solidFill>
                <a:latin typeface="Apple SD Gothic Neo"/>
              </a:rPr>
              <a:t>67명  (6%)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48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833"/>
                </a:solidFill>
                <a:latin typeface="Apple SD Gothic Neo"/>
              </a:rPr>
              <a:t>모든 행동 높음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74C3C"/>
                </a:solidFill>
                <a:latin typeface="Apple SD Gothic Neo"/>
              </a:rPr>
              <a:t>조용한 다수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D6D7E"/>
                </a:solidFill>
                <a:latin typeface="Apple SD Gothic Neo"/>
              </a:rPr>
              <a:t>922명 (86%)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74C3C"/>
                </a:solidFill>
                <a:latin typeface="Apple SD Gothic Neo"/>
              </a:rPr>
              <a:t>아무것도 안 함 ← 핵심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2833"/>
                </a:solidFill>
                <a:latin typeface="Apple SD Gothic Neo"/>
              </a:rPr>
              <a:t>기록형 독자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D6D7E"/>
                </a:solidFill>
                <a:latin typeface="Apple SD Gothic Neo"/>
              </a:rPr>
              <a:t>83명  (8%)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833"/>
                </a:solidFill>
                <a:latin typeface="Apple SD Gothic Neo"/>
              </a:rPr>
              <a:t>책·아카이브만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ple SD Gothic Neo"/>
              </a:rPr>
              <a:t>④ 네트워크: 연결이 중요한가?   ⚠️ H1 수정</a:t>
            </a:r>
          </a:p>
        </p:txBody>
      </p:sp>
      <p:pic>
        <p:nvPicPr>
          <p:cNvPr id="4" name="Picture 3" descr="fig_04_h1_h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2133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0" y="1371600"/>
            <a:ext cx="320040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463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1371600"/>
            <a:ext cx="137160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14630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active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0" y="1371600"/>
            <a:ext cx="137160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75720" y="14630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dormant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0" y="1371600"/>
            <a:ext cx="137160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47320" y="14630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차이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377440"/>
            <a:ext cx="3200400" cy="914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833"/>
                </a:solidFill>
                <a:latin typeface="Apple SD Gothic Neo"/>
              </a:rPr>
              <a:t>인디그리 (받은 방문)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2377440"/>
            <a:ext cx="1371600" cy="914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833"/>
                </a:solidFill>
                <a:latin typeface="Apple SD Gothic Neo"/>
              </a:rPr>
              <a:t>7.21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0" y="2377440"/>
            <a:ext cx="1371600" cy="914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7572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833"/>
                </a:solidFill>
                <a:latin typeface="Apple SD Gothic Neo"/>
              </a:rPr>
              <a:t>7.09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0" y="2377440"/>
            <a:ext cx="1371600" cy="914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4732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833"/>
                </a:solidFill>
                <a:latin typeface="Apple SD Gothic Neo"/>
              </a:rPr>
              <a:t>≈ 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383280"/>
            <a:ext cx="3200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474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833"/>
                </a:solidFill>
                <a:latin typeface="Apple SD Gothic Neo"/>
              </a:rPr>
              <a:t>아웃디그리 (준 방문)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3383280"/>
            <a:ext cx="1371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20" y="34747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833"/>
                </a:solidFill>
                <a:latin typeface="Apple SD Gothic Neo"/>
              </a:rPr>
              <a:t>11.65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0" y="3383280"/>
            <a:ext cx="1371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34747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2833"/>
                </a:solidFill>
                <a:latin typeface="Apple SD Gothic Neo"/>
              </a:rPr>
              <a:t>1.32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0" y="3383280"/>
            <a:ext cx="1371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47320" y="34747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Apple SD Gothic Neo"/>
              </a:rPr>
              <a:t>8.8배 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572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  <a:latin typeface="Apple SD Gothic Neo"/>
              </a:rPr>
              <a:t>받는 것보다 주는 행동(능동적 탐색)이 활성을 결정한다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ple SD Gothic Neo"/>
              </a:rPr>
              <a:t>⑤ 휴면 예측: 7일 만에 알 수 있는가?</a:t>
            </a:r>
          </a:p>
        </p:txBody>
      </p:sp>
      <p:pic>
        <p:nvPicPr>
          <p:cNvPr id="4" name="Picture 3" descr="fig_03_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2400300"/>
          </a:xfrm>
          <a:prstGeom prst="rect">
            <a:avLst/>
          </a:prstGeom>
        </p:spPr>
      </p:pic>
      <p:pic>
        <p:nvPicPr>
          <p:cNvPr id="5" name="Picture 4" descr="fig_03_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3779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276"/>
                </a:solidFill>
                <a:latin typeface="Apple SD Gothic Neo"/>
              </a:rPr>
              <a:t>AUC 0.648  (목표 0.75 미달)
→ 이것 자체가 발견: 단발 개입이 아닌 지속 모니터링 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pple SD Gothic Neo"/>
              </a:rPr>
              <a:t>7일로는 못 잡는다.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8DBB"/>
                </a:solidFill>
                <a:latin typeface="Apple SD Gothic Neo"/>
              </a:rPr>
              <a:t>그렇다면 무엇이 살아남게 하는가?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ple SD Gothic Neo"/>
              </a:rPr>
              <a:t>⑥ 생존 분석: 무엇이 오래 남게 하는가?</a:t>
            </a:r>
          </a:p>
        </p:txBody>
      </p:sp>
      <p:pic>
        <p:nvPicPr>
          <p:cNvPr id="4" name="Picture 3" descr="fig_06_km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229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833"/>
                </a:solidFill>
                <a:latin typeface="Apple SD Gothic Neo"/>
              </a:rPr>
              <a:t>H2  책 수 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57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  <a:latin typeface="Apple SD Gothic Neo"/>
              </a:rPr>
              <a:t>❌ 기각  p=0.751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833"/>
                </a:solidFill>
                <a:latin typeface="Apple SD Gothic Neo"/>
              </a:rPr>
              <a:t>H3  팔로잉 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429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  <a:latin typeface="Apple SD Gothic Neo"/>
              </a:rPr>
              <a:t>✅ 지지  p&lt;0.001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833"/>
                </a:solidFill>
                <a:latin typeface="Apple SD Gothic Neo"/>
              </a:rPr>
              <a:t>H4  아카이브 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800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  <a:latin typeface="Apple SD Gothic Neo"/>
              </a:rPr>
              <a:t>✅ 지지  p&lt;0.001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ple SD Gothic Neo"/>
              </a:rPr>
              <a:t>⑦ Cox 모델: 행동별 이탈 위험 감소율</a:t>
            </a:r>
          </a:p>
        </p:txBody>
      </p:sp>
      <p:pic>
        <p:nvPicPr>
          <p:cNvPr id="4" name="Picture 3" descr="fig_06_c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2971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0" y="1371600"/>
            <a:ext cx="3200400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463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ple SD Gothic Neo"/>
              </a:rPr>
              <a:t>행동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0"/>
            <a:ext cx="1371600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4630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ple SD Gothic Neo"/>
              </a:rPr>
              <a:t>HR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1371600"/>
            <a:ext cx="1828800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14630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ple SD Gothic Neo"/>
              </a:rPr>
              <a:t>위험 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320040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리뷰 작성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2286000"/>
            <a:ext cx="137160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23774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0.715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0" y="2286000"/>
            <a:ext cx="182880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18520" y="2377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74C3C"/>
                </a:solidFill>
                <a:latin typeface="Apple SD Gothic Neo"/>
              </a:rPr>
              <a:t>28.5% 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200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91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아카이브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3200400"/>
            <a:ext cx="1371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32918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0.744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0" y="3200400"/>
            <a:ext cx="1828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25.6%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14800"/>
            <a:ext cx="320040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206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프로필 방문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4114800"/>
            <a:ext cx="137160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42062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0.799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0" y="4114800"/>
            <a:ext cx="182880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18520" y="42062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20.1%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0292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120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책 추가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5029200"/>
            <a:ext cx="1371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51206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0.821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0" y="5029200"/>
            <a:ext cx="1828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18520" y="51206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17.9%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ple SD Gothic Neo"/>
              </a:rPr>
              <a:t>⑧ 이탈 피드백: 사용자는 뭐라고 했는가?</a:t>
            </a:r>
          </a:p>
        </p:txBody>
      </p:sp>
      <p:pic>
        <p:nvPicPr>
          <p:cNvPr id="4" name="Picture 3" descr="fig_05_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645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D6D7E"/>
                </a:solidFill>
                <a:latin typeface="Apple SD Gothic Neo"/>
              </a:rPr>
              <a:t>1위  사용빈도가 낮아서  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D6D7E"/>
                </a:solidFill>
                <a:latin typeface="Apple SD Gothic Neo"/>
              </a:rPr>
              <a:t>→ 증상이지 원인이 아님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926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  <a:latin typeface="Apple SD Gothic Neo"/>
              </a:rPr>
              <a:t>2위  기록 기능 부적합  19%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520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4C3C"/>
                </a:solidFill>
                <a:latin typeface="Apple SD Gothic Neo"/>
              </a:rPr>
              <a:t>→ 앱의 핵심 가치(기록)를
    제대로 경험시키지 못함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9377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  <a:latin typeface="Apple SD Gothic Neo"/>
              </a:rPr>
              <a:t>정량 분석: 기록 행동이 리텐션 핵심
이탈자 목소리: 기록 경험이 부족했다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ple SD Gothic Neo"/>
              </a:rPr>
              <a:t>가설 검증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ple SD Gothic Neo"/>
              </a:rPr>
              <a:t>가설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4114800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28016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ple SD Gothic Neo"/>
              </a:rPr>
              <a:t>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188720"/>
            <a:ext cx="1828800" cy="8229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0" y="12801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ple SD Gothic Neo"/>
              </a:rPr>
              <a:t>판정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75688"/>
            <a:ext cx="5486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67128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H1: 받은 방문 多 → 활성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075688"/>
            <a:ext cx="4114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167128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아웃디그리가 8.8배 더 중요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2075688"/>
            <a:ext cx="1828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216712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Apple SD Gothic Neo"/>
              </a:rPr>
              <a:t>⚠️ 수정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62656"/>
            <a:ext cx="548640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54096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H2: 책 수 多 → 생존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962656"/>
            <a:ext cx="411480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054096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p = 0.751 (n.s.)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2962656"/>
            <a:ext cx="182880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3054096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74C3C"/>
                </a:solidFill>
                <a:latin typeface="Apple SD Gothic Neo"/>
              </a:rPr>
              <a:t>❌ 기각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9624"/>
            <a:ext cx="5486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41063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H3: 팔로잉 有 → 생존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849624"/>
            <a:ext cx="4114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3941063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p &lt; 0.001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3849624"/>
            <a:ext cx="1828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3941063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Apple SD Gothic Neo"/>
              </a:rPr>
              <a:t>✅ 지지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36592"/>
            <a:ext cx="548640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28031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H4: 아카이브 → 생존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736592"/>
            <a:ext cx="411480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4828031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HR = 0.744, p &lt; 0.001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0" y="4736592"/>
            <a:ext cx="1828800" cy="8229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4828031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Apple SD Gothic Neo"/>
              </a:rPr>
              <a:t>✅ 지지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623559"/>
            <a:ext cx="5486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714999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H5: 광고 코호트 리텐션 낮음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5623559"/>
            <a:ext cx="4114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714999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2833"/>
                </a:solidFill>
                <a:latin typeface="Apple SD Gothic Neo"/>
              </a:rPr>
              <a:t>코호트 비교 확인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5623559"/>
            <a:ext cx="1828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5714999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Apple SD Gothic Neo"/>
              </a:rPr>
              <a:t>✅ 지지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18DBB"/>
                </a:solidFill>
                <a:latin typeface="Apple SD Gothic Neo"/>
              </a:rPr>
              <a:t>6개 분석이 하나를 가리킨다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Apple SD Gothic Neo"/>
              </a:rPr>
              <a:t>Aha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7DC6F"/>
                </a:solidFill>
                <a:latin typeface="Apple SD Gothic Neo"/>
              </a:rPr>
              <a:t>첫 주에 아카이브 또는 리뷰를
한 번이라도 경험한 사용자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38912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D6D7E"/>
                </a:solidFill>
                <a:latin typeface="Apple SD Gothic Neo"/>
              </a:rPr>
              <a:t>• SHAP: 아카이브 중요도 1위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84632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D6D7E"/>
                </a:solidFill>
                <a:latin typeface="Apple SD Gothic Neo"/>
              </a:rPr>
              <a:t>• Cox: 리뷰 HR 0.715  /  아카이브 HR 0.744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D6D7E"/>
                </a:solidFill>
                <a:latin typeface="Apple SD Gothic Neo"/>
              </a:rPr>
              <a:t>• 클러스터링: 86%가 이 경험 없이 이탈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76072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D6D7E"/>
                </a:solidFill>
                <a:latin typeface="Apple SD Gothic Neo"/>
              </a:rPr>
              <a:t>• 이탈 피드백: 19% '기록 기능 부적합'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ple SD Gothic Neo"/>
              </a:rPr>
              <a:t>액션 아이템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822960" cy="82296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833"/>
                </a:solidFill>
                <a:latin typeface="Apple SD Gothic Neo"/>
              </a:rPr>
              <a:t>온보딩에서 첫 아카이브 필수 유도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D6D7E"/>
                </a:solidFill>
                <a:latin typeface="Apple SD Gothic Neo"/>
              </a:rPr>
              <a:t>SHAP 1위  /  Cox HR 0.744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017520"/>
            <a:ext cx="822960" cy="82296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833"/>
                </a:solidFill>
                <a:latin typeface="Apple SD Gothic Neo"/>
              </a:rPr>
              <a:t>가입 7일 내 리뷰 작성 푸시 알림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D6D7E"/>
                </a:solidFill>
                <a:latin typeface="Apple SD Gothic Neo"/>
              </a:rPr>
              <a:t>Cox 최강 보호 요인 HR 0.715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663440"/>
            <a:ext cx="822960" cy="82296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754879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833"/>
                </a:solidFill>
                <a:latin typeface="Apple SD Gothic Neo"/>
              </a:rPr>
              <a:t>탐색 피드 강화 (능동적 방문 유도)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2120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D6D7E"/>
                </a:solidFill>
                <a:latin typeface="Apple SD Gothic Neo"/>
              </a:rPr>
              <a:t>아웃디그리 8.8배 효과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18DBB"/>
                </a:solidFill>
                <a:latin typeface="Apple SD Gothic Neo"/>
              </a:rPr>
              <a:t>한계 및 향후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• AUC 0.648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D6D7E"/>
                </a:solidFill>
                <a:latin typeface="Apple SD Gothic Neo"/>
              </a:rPr>
              <a:t>  7일 예측 한계 → 30일 누적 피처로 재모델링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• 이탈 텍스트 98% 결측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D6D7E"/>
                </a:solidFill>
                <a:latin typeface="Apple SD Gothic Neo"/>
              </a:rPr>
              <a:t>  질적 분석 불가 → 탈퇴 시 서술 피드백 수집 권고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• 랜딩페이지 데이터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D6D7E"/>
                </a:solidFill>
                <a:latin typeface="Apple SD Gothic Neo"/>
              </a:rPr>
              <a:t>  A/B 테스트 데이터 구축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pple SD Gothic Neo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